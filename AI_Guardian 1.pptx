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38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686800" y="0"/>
            <a:ext cx="3504895" cy="6858000"/>
          </a:xfrm>
          <a:prstGeom prst="rect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>
            <a:off x="7772400" y="4572000"/>
            <a:ext cx="1828800" cy="2286000"/>
          </a:xfrm>
          <a:prstGeom prst="rtTriangl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Segoe UI Semibold"/>
              </a:defRPr>
            </a:pPr>
            <a:r>
              <a:t>AI Guardian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743200"/>
            <a:ext cx="2743200" cy="54864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83464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ED6F1"/>
                </a:solidFill>
                <a:latin typeface="Segoe UI"/>
              </a:defRPr>
            </a:pPr>
            <a:r>
              <a:t>Enterprise AI Response Validation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5C1E9"/>
                </a:solidFill>
                <a:latin typeface="Segoe UI"/>
              </a:defRPr>
            </a:pPr>
            <a:r>
              <a:t>LLM-as-Judge Quality Assurance Platform  |  A Deloitte Solution for Elevance Health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754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7A58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212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C3C7"/>
                </a:solidFill>
                <a:latin typeface="Segoe UI"/>
              </a:defRPr>
            </a:pPr>
            <a:r>
              <a:t>Eval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4754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7A58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5212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C3C7"/>
                </a:solidFill>
                <a:latin typeface="Segoe UI"/>
              </a:defRPr>
            </a:pPr>
            <a:r>
              <a:t>LLM Providers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4754880"/>
            <a:ext cx="1828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7A589"/>
                </a:solidFill>
                <a:latin typeface="Segoe UI"/>
              </a:defRPr>
            </a:pPr>
            <a:r>
              <a:rPr lang="en-US" dirty="0"/>
              <a:t>2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5669280" y="5212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C3C7"/>
                </a:solidFill>
                <a:latin typeface="Segoe UI"/>
              </a:defRPr>
            </a:pPr>
            <a:r>
              <a:t>Integration Modes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660196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Standardizing AI Quality Assurance Across the Enterprise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2D4F"/>
                </a:solidFill>
                <a:latin typeface="Segoe UI"/>
              </a:defRPr>
            </a:pPr>
            <a:r>
              <a:t>The Current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Segoe UI"/>
              </a:defRPr>
            </a:pPr>
            <a:r>
              <a:t>How each team approaches AI evaluation today -- siloed and inconsistent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43000"/>
            <a:ext cx="182880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577840" cy="2606040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548640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74C3C"/>
                </a:solidFill>
                <a:latin typeface="Segoe UI"/>
              </a:defRPr>
            </a:pPr>
            <a:r>
              <a:t>No Standardized Enterprise AI Eval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0312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800" dirty="0">
                <a:solidFill>
                  <a:srgbClr val="E74C3C"/>
                </a:solidFill>
                <a:latin typeface="Segoe UI"/>
              </a:rPr>
              <a:t>●  </a:t>
            </a:r>
            <a:r>
              <a:rPr sz="1100" dirty="0">
                <a:solidFill>
                  <a:srgbClr val="2C3E50"/>
                </a:solidFill>
                <a:latin typeface="Segoe UI"/>
              </a:rPr>
              <a:t>Each AI team builds its own ad-hoc validation approach (custom scripts, manual review, spot-checks)</a:t>
            </a:r>
          </a:p>
          <a:p>
            <a:pPr>
              <a:spcAft>
                <a:spcPts val="600"/>
              </a:spcAft>
            </a:pPr>
            <a:r>
              <a:rPr sz="800" dirty="0">
                <a:solidFill>
                  <a:srgbClr val="E74C3C"/>
                </a:solidFill>
                <a:latin typeface="Segoe UI"/>
              </a:rPr>
              <a:t>●  </a:t>
            </a:r>
            <a:r>
              <a:rPr sz="1100" dirty="0">
                <a:solidFill>
                  <a:srgbClr val="2C3E50"/>
                </a:solidFill>
                <a:latin typeface="Segoe UI"/>
              </a:rPr>
              <a:t>No consistent scoring rubric -- one team's 'good enough' is another team's failure</a:t>
            </a:r>
          </a:p>
          <a:p>
            <a:pPr>
              <a:spcAft>
                <a:spcPts val="600"/>
              </a:spcAft>
            </a:pPr>
            <a:r>
              <a:rPr sz="800" dirty="0">
                <a:solidFill>
                  <a:srgbClr val="E74C3C"/>
                </a:solidFill>
                <a:latin typeface="Segoe UI"/>
              </a:rPr>
              <a:t>●  </a:t>
            </a:r>
            <a:r>
              <a:rPr sz="1100" dirty="0">
                <a:solidFill>
                  <a:srgbClr val="2C3E50"/>
                </a:solidFill>
                <a:latin typeface="Segoe UI"/>
              </a:rPr>
              <a:t>No shared metrics across SQL generation, data processing, document analysis, conversational AI</a:t>
            </a:r>
          </a:p>
          <a:p>
            <a:pPr>
              <a:spcAft>
                <a:spcPts val="600"/>
              </a:spcAft>
            </a:pPr>
            <a:r>
              <a:rPr sz="800" dirty="0">
                <a:solidFill>
                  <a:srgbClr val="E74C3C"/>
                </a:solidFill>
                <a:latin typeface="Segoe UI"/>
              </a:rPr>
              <a:t>●  </a:t>
            </a:r>
            <a:r>
              <a:rPr sz="1100" dirty="0">
                <a:solidFill>
                  <a:srgbClr val="2C3E50"/>
                </a:solidFill>
                <a:latin typeface="Segoe UI"/>
              </a:rPr>
              <a:t>Manual review takes 8+ hours per cycle, doesn't scale as AI adoption grows</a:t>
            </a:r>
          </a:p>
          <a:p>
            <a:pPr>
              <a:spcAft>
                <a:spcPts val="600"/>
              </a:spcAft>
            </a:pPr>
            <a:r>
              <a:rPr sz="800" dirty="0">
                <a:solidFill>
                  <a:srgbClr val="E74C3C"/>
                </a:solidFill>
                <a:latin typeface="Segoe UI"/>
              </a:rPr>
              <a:t>●  </a:t>
            </a:r>
            <a:r>
              <a:rPr sz="1100" dirty="0">
                <a:solidFill>
                  <a:srgbClr val="2C3E50"/>
                </a:solidFill>
                <a:latin typeface="Segoe UI"/>
              </a:rPr>
              <a:t>No audit trail or standardized reports for compliance and governance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63040"/>
            <a:ext cx="25603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1463040"/>
            <a:ext cx="54864" cy="10058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554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  <a:latin typeface="Segoe UI"/>
              </a:defRPr>
            </a:pPr>
            <a:r>
              <a:t>Team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828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Manual</a:t>
            </a:r>
            <a:br/>
            <a:r>
              <a:t>spot-checks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463040"/>
            <a:ext cx="25603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235440" y="1463040"/>
            <a:ext cx="54864" cy="10058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0" y="1554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7E22"/>
                </a:solidFill>
                <a:latin typeface="Segoe UI"/>
              </a:defRPr>
            </a:pPr>
            <a:r>
              <a:t>Team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1828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Custom Python</a:t>
            </a:r>
            <a:br/>
            <a:r>
              <a:t>scripts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651760"/>
            <a:ext cx="25603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0" y="2651760"/>
            <a:ext cx="54864" cy="1005840"/>
          </a:xfrm>
          <a:prstGeom prst="rect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2743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C8E"/>
                </a:solidFill>
                <a:latin typeface="Segoe UI"/>
              </a:defRPr>
            </a:pPr>
            <a:r>
              <a:t>Team 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No validation</a:t>
            </a:r>
            <a:br/>
            <a:r>
              <a:t>at all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2651760"/>
            <a:ext cx="25603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235440" y="2651760"/>
            <a:ext cx="54864" cy="10058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18320" y="2743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E44AD"/>
                </a:solidFill>
                <a:latin typeface="Segoe UI"/>
              </a:defRPr>
            </a:pPr>
            <a:r>
              <a:t>Team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Different rubric</a:t>
            </a:r>
            <a:br/>
            <a:r>
              <a:t>&amp; criteria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74903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  <a:latin typeface="Segoe UI"/>
              </a:defRPr>
            </a:pPr>
            <a:r>
              <a:t>= Inconsistent quality, no enterprise rigor, compliance risk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4297680"/>
            <a:ext cx="12191695" cy="2286000"/>
          </a:xfrm>
          <a:prstGeom prst="rect">
            <a:avLst/>
          </a:prstGeom>
          <a:solidFill>
            <a:srgbClr val="0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4434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What's Needed: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8920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800">
                <a:solidFill>
                  <a:srgbClr val="17A589"/>
                </a:solidFill>
                <a:latin typeface="Segoe UI"/>
              </a:rPr>
              <a:t>●  </a:t>
            </a:r>
            <a:r>
              <a:rPr sz="1300">
                <a:solidFill>
                  <a:srgbClr val="D5F5E3"/>
                </a:solidFill>
                <a:latin typeface="Segoe UI"/>
              </a:rPr>
              <a:t>A single, standardized framework that works across ALL AI use cases</a:t>
            </a:r>
          </a:p>
          <a:p>
            <a:pPr>
              <a:spcAft>
                <a:spcPts val="600"/>
              </a:spcAft>
            </a:pPr>
            <a:r>
              <a:rPr sz="800">
                <a:solidFill>
                  <a:srgbClr val="17A589"/>
                </a:solidFill>
                <a:latin typeface="Segoe UI"/>
              </a:rPr>
              <a:t>●  </a:t>
            </a:r>
            <a:r>
              <a:rPr sz="1300">
                <a:solidFill>
                  <a:srgbClr val="D5F5E3"/>
                </a:solidFill>
                <a:latin typeface="Segoe UI"/>
              </a:rPr>
              <a:t>Consistent scoring metrics with enterprise rigor (1-5 scale, pass/fail/needs-review)</a:t>
            </a:r>
          </a:p>
          <a:p>
            <a:pPr>
              <a:spcAft>
                <a:spcPts val="600"/>
              </a:spcAft>
            </a:pPr>
            <a:r>
              <a:rPr sz="800">
                <a:solidFill>
                  <a:srgbClr val="17A589"/>
                </a:solidFill>
                <a:latin typeface="Segoe UI"/>
              </a:rPr>
              <a:t>●  </a:t>
            </a:r>
            <a:r>
              <a:rPr sz="1300">
                <a:solidFill>
                  <a:srgbClr val="D5F5E3"/>
                </a:solidFill>
                <a:latin typeface="Segoe UI"/>
              </a:rPr>
              <a:t>Plug-and-play integration: no code changes to existing AI apps</a:t>
            </a:r>
          </a:p>
          <a:p>
            <a:pPr>
              <a:spcAft>
                <a:spcPts val="600"/>
              </a:spcAft>
            </a:pPr>
            <a:r>
              <a:rPr sz="800">
                <a:solidFill>
                  <a:srgbClr val="17A589"/>
                </a:solidFill>
                <a:latin typeface="Segoe UI"/>
              </a:rPr>
              <a:t>●  </a:t>
            </a:r>
            <a:r>
              <a:rPr sz="1300">
                <a:solidFill>
                  <a:srgbClr val="D5F5E3"/>
                </a:solidFill>
                <a:latin typeface="Segoe UI"/>
              </a:rPr>
              <a:t>Automated evaluation at scale: minutes instead of hours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2D4F"/>
                </a:solidFill>
                <a:latin typeface="Segoe UI"/>
              </a:defRPr>
            </a:pPr>
            <a:r>
              <a:t>AI Guardian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Segoe UI"/>
              </a:defRPr>
            </a:pPr>
            <a:r>
              <a:t>What the platform delivers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43000"/>
            <a:ext cx="182880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39496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54864" cy="14630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6002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2D4F"/>
                </a:solidFill>
                <a:latin typeface="Segoe UI"/>
              </a:defRPr>
            </a:pPr>
            <a:r>
              <a:t>LLM-as-Judge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92024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Uses a judge LLM to automatically evaluate AI-generated responses.</a:t>
            </a:r>
            <a:br/>
            <a:r>
              <a:t>Scores each output on multiple dimensions with a 1-5 scale and</a:t>
            </a:r>
            <a:br/>
            <a:r>
              <a:t>pass / fail / needs-review classification.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39496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A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54864" cy="146304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00800" y="1645920"/>
            <a:ext cx="502920" cy="502920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16002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2D4F"/>
                </a:solidFill>
                <a:latin typeface="Segoe UI"/>
              </a:defRPr>
            </a:pPr>
            <a:r>
              <a:t>17 Configurable Eval Dimensions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92024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12 generic dimensions (faithfulness, correctness, completeness, relevance,</a:t>
            </a:r>
            <a:br/>
            <a:r>
              <a:t>clarity, conciseness, actionability, etc.) + 5 specialized dimensions</a:t>
            </a:r>
            <a:br/>
            <a:r>
              <a:t>for structured outputs. Select which to evaluate per run.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108960"/>
            <a:ext cx="539496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3108960"/>
            <a:ext cx="54864" cy="1463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0080" y="3291840"/>
            <a:ext cx="502920" cy="50292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2461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2D4F"/>
                </a:solidFill>
                <a:latin typeface="Segoe UI"/>
              </a:defRPr>
            </a:pPr>
            <a:r>
              <a:t>Dual Evaluation Paths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56616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Known Format: auto-detects structured traces (e.g., SQL test cases) and</a:t>
            </a:r>
            <a:br/>
            <a:r>
              <a:t>applies specialized prompts. Generic Format: works with ANY AI system --</a:t>
            </a:r>
            <a:br/>
            <a:r>
              <a:t>just provide a response field in .jsonl.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108960"/>
            <a:ext cx="539496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3108960"/>
            <a:ext cx="54864" cy="1463040"/>
          </a:xfrm>
          <a:prstGeom prst="rect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00800" y="3291840"/>
            <a:ext cx="502920" cy="502920"/>
          </a:xfrm>
          <a:prstGeom prst="ellipse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2461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2D4F"/>
                </a:solidFill>
                <a:latin typeface="Segoe UI"/>
              </a:defRPr>
            </a:pPr>
            <a:r>
              <a:t>Pluggable LLM Providers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356616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Swap judge LLM at runtime: Snowflake Cortex (llama3.1-70b) or Horizon</a:t>
            </a:r>
            <a:br/>
            <a:r>
              <a:t>EHAP (REST + OAuth2). Architected for easy addition of Azure OpenAI,</a:t>
            </a:r>
            <a:br/>
            <a:r>
              <a:t>AWS Bedrock. No vendor lock-in.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754880"/>
            <a:ext cx="539496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4754880"/>
            <a:ext cx="54864" cy="14630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40080" y="4937760"/>
            <a:ext cx="502920" cy="50292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8920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2D4F"/>
                </a:solidFill>
                <a:latin typeface="Segoe UI"/>
              </a:defRPr>
            </a:pPr>
            <a:r>
              <a:t>Multiple Integration Modes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21208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Web UI (drag-and-drop upload), REST API sync (POST /validate),</a:t>
            </a:r>
            <a:br/>
            <a:r>
              <a:t>REST API async (POST /validate/async with job polling),</a:t>
            </a:r>
            <a:br/>
            <a:r>
              <a:t>Document-only mode (no trace file needed).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754880"/>
            <a:ext cx="539496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17920" y="4754880"/>
            <a:ext cx="54864" cy="1463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00800" y="4937760"/>
            <a:ext cx="502920" cy="5029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48920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2D4F"/>
                </a:solidFill>
                <a:latin typeface="Segoe UI"/>
              </a:defRPr>
            </a:pPr>
            <a:r>
              <a:t>Actionable Reporting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521208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Per-item scores, verdicts, dimension-level assessments, specific issues</a:t>
            </a:r>
            <a:br>
              <a:rPr dirty="0"/>
            </a:br>
            <a:r>
              <a:rPr dirty="0"/>
              <a:t>identified, and improvement recommendations. Downloadable JSON reports</a:t>
            </a:r>
            <a:br>
              <a:rPr dirty="0"/>
            </a:br>
            <a:r>
              <a:rPr dirty="0"/>
              <a:t>with aggregate stats and score distribution.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1920" y="6163056"/>
            <a:ext cx="12069775" cy="694944"/>
          </a:xfrm>
          <a:prstGeom prst="rect">
            <a:avLst/>
          </a:prstGeom>
          <a:solidFill>
            <a:srgbClr val="0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6126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A589"/>
                </a:solidFill>
                <a:latin typeface="Segoe UI"/>
              </a:defRPr>
            </a:pPr>
            <a:r>
              <a:t>Zero Code Changes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C3C7"/>
                </a:solidFill>
                <a:latin typeface="Segoe UI"/>
              </a:defRPr>
            </a:pPr>
            <a:r>
              <a:t>Teams add logging only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0" y="6126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A589"/>
                </a:solidFill>
                <a:latin typeface="Segoe UI"/>
              </a:defRPr>
            </a:pPr>
            <a:r>
              <a:t>1-2 Day Integration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472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C3C7"/>
                </a:solidFill>
                <a:latin typeface="Segoe UI"/>
              </a:defRPr>
            </a:pPr>
            <a:r>
              <a:t>Trace file + upload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6126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A589"/>
                </a:solidFill>
                <a:latin typeface="Segoe UI"/>
              </a:defRPr>
            </a:pPr>
            <a:r>
              <a:t>~$0.50 / Run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C3C7"/>
                </a:solidFill>
                <a:latin typeface="Segoe UI"/>
              </a:defRPr>
            </a:pPr>
            <a:r>
              <a:t>On existing Snowflake compute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6126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A589"/>
                </a:solidFill>
                <a:latin typeface="Segoe UI"/>
              </a:defRPr>
            </a:pPr>
            <a:r>
              <a:t>Multi-Tenant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C3C7"/>
                </a:solidFill>
                <a:latin typeface="Segoe UI"/>
              </a:defRPr>
            </a:pPr>
            <a:r>
              <a:t>App-code isolation per team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2D4F"/>
                </a:solidFill>
                <a:latin typeface="Segoe UI"/>
              </a:defRPr>
            </a:pPr>
            <a:r>
              <a:t>The AI Guardian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Segoe UI"/>
              </a:defRPr>
            </a:pPr>
            <a:r>
              <a:t>Plugin/Tracefile architecture that standardizes eval for ANY use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43000"/>
            <a:ext cx="182880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303520" cy="475488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B2D4F"/>
                </a:solidFill>
                <a:latin typeface="Segoe UI"/>
              </a:defRPr>
            </a:pPr>
            <a:r>
              <a:t>Universal Trace File Contract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Any AI application produces a .jsonl trace file (one JSON line per AI interaction).</a:t>
            </a:r>
            <a:br/>
            <a:r>
              <a:t>AI Guardian consumes this standard contract and validates every response.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857500"/>
            <a:ext cx="47548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834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C1"/>
                </a:solidFill>
                <a:latin typeface="Segoe UI"/>
              </a:defRPr>
            </a:pPr>
            <a:r>
              <a:t>Known Format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10896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For structured AI systems (e.g., SQL Test Case Generator).</a:t>
            </a:r>
            <a:br/>
            <a:r>
              <a:t>Auto-detects call_type from trace spans and applies specialized</a:t>
            </a:r>
            <a:br/>
            <a:r>
              <a:t>evaluation prompts with domain-specific dimensions.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297680"/>
            <a:ext cx="4754880" cy="1783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A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389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A589"/>
                </a:solidFill>
                <a:latin typeface="Segoe UI"/>
              </a:defRPr>
            </a:pPr>
            <a:r>
              <a:t>Generic Format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For ANY AI system: data processing, document analysis, chatbots, code gen.</a:t>
            </a:r>
            <a:br>
              <a:rPr dirty="0"/>
            </a:br>
            <a:r>
              <a:rPr dirty="0"/>
              <a:t>Minimum: just a "response" field per line. Optionally add prompt, reference,</a:t>
            </a:r>
            <a:br>
              <a:rPr dirty="0"/>
            </a:br>
            <a:r>
              <a:rPr dirty="0"/>
              <a:t>criteria, </a:t>
            </a:r>
            <a:r>
              <a:rPr dirty="0" err="1"/>
              <a:t>ground_truth</a:t>
            </a:r>
            <a:r>
              <a:rPr dirty="0"/>
              <a:t>, </a:t>
            </a:r>
            <a:r>
              <a:rPr dirty="0" err="1"/>
              <a:t>system_prompt</a:t>
            </a:r>
            <a:r>
              <a:rPr dirty="0"/>
              <a:t>, </a:t>
            </a:r>
            <a:r>
              <a:rPr dirty="0" err="1"/>
              <a:t>evaluation_criteria</a:t>
            </a:r>
            <a:r>
              <a:rPr dirty="0"/>
              <a:t>.</a:t>
            </a:r>
            <a:br>
              <a:rPr dirty="0"/>
            </a:br>
            <a:r>
              <a:rPr dirty="0"/>
              <a:t>Field mapping: remap custom field names via UI dropdown.</a:t>
            </a:r>
            <a:br>
              <a:rPr dirty="0"/>
            </a:br>
            <a:r>
              <a:rPr dirty="0"/>
              <a:t>Evaluates on up to 12 configurable dimensions (faithfulness, correctness, etc.)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600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B2D4F"/>
                </a:solidFill>
                <a:latin typeface="Segoe UI"/>
              </a:defRPr>
            </a:pPr>
            <a:r>
              <a:t>How This Solves the Challenge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2103120"/>
            <a:ext cx="457200" cy="45720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057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D4F"/>
                </a:solidFill>
                <a:latin typeface="Segoe UI"/>
              </a:defRPr>
            </a:pPr>
            <a:r>
              <a:t>Standardization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3317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Single scoring rubric (1-5) with pass/fail/</a:t>
            </a:r>
            <a:br/>
            <a:r>
              <a:t>needs-review across ALL teams and use cases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2971800"/>
            <a:ext cx="457200" cy="457200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D4F"/>
                </a:solidFill>
                <a:latin typeface="Segoe UI"/>
              </a:defRPr>
            </a:pPr>
            <a:r>
              <a:t>Zero Code Changes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32004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Teams add logging to produce .jsonl traces.</a:t>
            </a:r>
            <a:br/>
            <a:r>
              <a:t>No SDK, no refactoring, no code dependencies.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3840480"/>
            <a:ext cx="457200" cy="4572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794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D4F"/>
                </a:solidFill>
                <a:latin typeface="Segoe UI"/>
              </a:defRPr>
            </a:pPr>
            <a:r>
              <a:t>Configurable Metrics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0690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Select which of 17 dimensions to evaluate per</a:t>
            </a:r>
            <a:br/>
            <a:r>
              <a:t>run. Adapt rigor to use-case requirements.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0" y="4709160"/>
            <a:ext cx="457200" cy="457200"/>
          </a:xfrm>
          <a:prstGeom prst="ellipse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D4F"/>
                </a:solidFill>
                <a:latin typeface="Segoe UI"/>
              </a:defRPr>
            </a:pPr>
            <a:r>
              <a:t>Multiple Providers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9377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Swap judge LLM at runtime: Snowflake Cortex</a:t>
            </a:r>
            <a:br/>
            <a:r>
              <a:t>(llama3.1-70b) or Horizon EHAP. No lock-in.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0" y="5577840"/>
            <a:ext cx="457200" cy="45720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5532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D4F"/>
                </a:solidFill>
                <a:latin typeface="Segoe UI"/>
              </a:defRPr>
            </a:pPr>
            <a:r>
              <a:t>Document-Only Mode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59131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Teams without traces can upload input docs +</a:t>
            </a:r>
            <a:br>
              <a:rPr dirty="0"/>
            </a:br>
            <a:r>
              <a:rPr dirty="0"/>
              <a:t>AI output directly. No .</a:t>
            </a:r>
            <a:r>
              <a:rPr dirty="0" err="1"/>
              <a:t>jsonl</a:t>
            </a:r>
            <a:r>
              <a:rPr dirty="0"/>
              <a:t> needed.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2D4F"/>
                </a:solidFill>
                <a:latin typeface="Segoe UI"/>
              </a:defRPr>
            </a:pPr>
            <a:r>
              <a:t>What App Teams Need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Segoe UI"/>
              </a:defRPr>
            </a:pPr>
            <a:r>
              <a:t>Effort required -- trace file creation, upload, and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43000"/>
            <a:ext cx="182880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200400" cy="2926080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320040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965960" y="1783080"/>
            <a:ext cx="731520" cy="73152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2D4F"/>
                </a:solidFill>
                <a:latin typeface="Segoe UI"/>
              </a:defRPr>
            </a:pPr>
            <a:r>
              <a:t>Create Trace 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Add logging to capture AI</a:t>
            </a:r>
            <a:br/>
            <a:r>
              <a:t>interactions as .jsonl</a:t>
            </a:r>
            <a:br/>
            <a:r>
              <a:t>(one JSON line per call)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4023360"/>
            <a:ext cx="2286000" cy="32004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0416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1-2 days one-time effort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950208" y="2926080"/>
            <a:ext cx="320040" cy="182880"/>
          </a:xfrm>
          <a:prstGeom prst="rightArrow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297680" y="1554480"/>
            <a:ext cx="3200400" cy="2926080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97680" y="1554480"/>
            <a:ext cx="3200400" cy="54864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532120" y="1783080"/>
            <a:ext cx="731520" cy="731520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6517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2D4F"/>
                </a:solidFill>
                <a:latin typeface="Segoe UI"/>
              </a:defRPr>
            </a:pPr>
            <a:r>
              <a:t>Upload &amp; Configure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10896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Upload via Web UI or</a:t>
            </a:r>
            <a:br/>
            <a:r>
              <a:t>REST API. Select metrics,</a:t>
            </a:r>
            <a:br/>
            <a:r>
              <a:t>attach supporting docs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4023360"/>
            <a:ext cx="2286000" cy="320040"/>
          </a:xfrm>
          <a:prstGeom prst="round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0" y="40416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5 minutes per run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516368" y="2926080"/>
            <a:ext cx="320040" cy="182880"/>
          </a:xfrm>
          <a:prstGeom prst="rightArrow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863840" y="1554480"/>
            <a:ext cx="3200400" cy="2926080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863840" y="1554480"/>
            <a:ext cx="320040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098280" y="1783080"/>
            <a:ext cx="731520" cy="73152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26517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2D4F"/>
                </a:solidFill>
                <a:latin typeface="Segoe UI"/>
              </a:defRPr>
            </a:pPr>
            <a:r>
              <a:t>Review Results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10896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Get scored report with</a:t>
            </a:r>
            <a:br/>
            <a:r>
              <a:t>per-item verdicts, issues,</a:t>
            </a:r>
            <a:br/>
            <a:r>
              <a:t>and recommendations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4023360"/>
            <a:ext cx="2286000" cy="3200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21040" y="40416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Immediate results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754880"/>
            <a:ext cx="53035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8463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C1"/>
                </a:solidFill>
                <a:latin typeface="Segoe UI"/>
              </a:defRPr>
            </a:pPr>
            <a:r>
              <a:t>Trace File Format (.jsonl)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16636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onsolas"/>
              </a:defRPr>
            </a:pPr>
            <a:r>
              <a:t>Minimum required per line: { "response": "AI output text" }</a:t>
            </a:r>
            <a:br/>
            <a:br/>
            <a:r>
              <a:t>Optional enrichment fields:</a:t>
            </a:r>
            <a:br/>
            <a:r>
              <a:t>  prompt, reference, criteria, ground_truth, system_prompt,</a:t>
            </a:r>
            <a:br/>
            <a:r>
              <a:t>  evaluation_criteria, reference_material, call_type, model,</a:t>
            </a:r>
            <a:br/>
            <a:r>
              <a:t>  test_case_id, episode_name, step_name, attachments[]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4754880"/>
            <a:ext cx="53035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A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0" y="48463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A589"/>
                </a:solidFill>
                <a:latin typeface="Segoe UI"/>
              </a:defRPr>
            </a:pPr>
            <a:r>
              <a:t>Integration Methods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2120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800">
                <a:solidFill>
                  <a:srgbClr val="17A589"/>
                </a:solidFill>
                <a:latin typeface="Segoe UI"/>
              </a:rPr>
              <a:t>●  </a:t>
            </a:r>
            <a:r>
              <a:rPr sz="1100">
                <a:solidFill>
                  <a:srgbClr val="2C3E50"/>
                </a:solidFill>
                <a:latin typeface="Segoe UI"/>
              </a:rPr>
              <a:t>Web UI: Drag-and-drop trace + docs at /ui (browser-based)</a:t>
            </a:r>
          </a:p>
          <a:p>
            <a:pPr>
              <a:spcAft>
                <a:spcPts val="600"/>
              </a:spcAft>
            </a:pPr>
            <a:r>
              <a:rPr sz="800">
                <a:solidFill>
                  <a:srgbClr val="17A589"/>
                </a:solidFill>
                <a:latin typeface="Segoe UI"/>
              </a:rPr>
              <a:t>●  </a:t>
            </a:r>
            <a:r>
              <a:rPr sz="1100">
                <a:solidFill>
                  <a:srgbClr val="2C3E50"/>
                </a:solidFill>
                <a:latin typeface="Segoe UI"/>
              </a:rPr>
              <a:t>REST API (sync): POST /validate -- returns full report in response</a:t>
            </a:r>
          </a:p>
          <a:p>
            <a:pPr>
              <a:spcAft>
                <a:spcPts val="600"/>
              </a:spcAft>
            </a:pPr>
            <a:r>
              <a:rPr sz="800">
                <a:solidFill>
                  <a:srgbClr val="17A589"/>
                </a:solidFill>
                <a:latin typeface="Segoe UI"/>
              </a:rPr>
              <a:t>●  </a:t>
            </a:r>
            <a:r>
              <a:rPr sz="1100">
                <a:solidFill>
                  <a:srgbClr val="2C3E50"/>
                </a:solidFill>
                <a:latin typeface="Segoe UI"/>
              </a:rPr>
              <a:t>REST API (async): POST /validate/async -- returns job_id, poll status</a:t>
            </a:r>
          </a:p>
          <a:p>
            <a:pPr>
              <a:spcAft>
                <a:spcPts val="600"/>
              </a:spcAft>
            </a:pPr>
            <a:r>
              <a:rPr sz="800">
                <a:solidFill>
                  <a:srgbClr val="17A589"/>
                </a:solidFill>
                <a:latin typeface="Segoe UI"/>
              </a:rPr>
              <a:t>●  </a:t>
            </a:r>
            <a:r>
              <a:rPr sz="1100">
                <a:solidFill>
                  <a:srgbClr val="2C3E50"/>
                </a:solidFill>
                <a:latin typeface="Segoe UI"/>
              </a:rPr>
              <a:t>Document-only: POST /validate/document -- no trace file needed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2D4F"/>
                </a:solidFill>
                <a:latin typeface="Segoe UI"/>
              </a:defRPr>
            </a:pPr>
            <a:r>
              <a:t>12 Configurable Evaluation Dimensions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Segoe UI"/>
              </a:defRPr>
            </a:pPr>
            <a:r>
              <a:t>Select which dimensions to evaluate per run -- Generic Format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43000"/>
            <a:ext cx="182880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34747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54864" cy="10972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554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D4F"/>
                </a:solidFill>
                <a:latin typeface="Segoe UI"/>
              </a:defRPr>
            </a:pPr>
            <a:r>
              <a:t>faithfulness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745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Grounded in source documents;</a:t>
            </a:r>
            <a:br/>
            <a:r>
              <a:t>hallucination detection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463040"/>
            <a:ext cx="34747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A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60520" y="1463040"/>
            <a:ext cx="54864" cy="109728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343400" y="1600200"/>
            <a:ext cx="411480" cy="411480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1554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D4F"/>
                </a:solidFill>
                <a:latin typeface="Segoe UI"/>
              </a:defRPr>
            </a:pPr>
            <a:r>
              <a:t>completeness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18745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All prompt requirements</a:t>
            </a:r>
            <a:br/>
            <a:r>
              <a:t>fully addressed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1463040"/>
            <a:ext cx="34747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863840" y="1463040"/>
            <a:ext cx="54864" cy="10972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046720" y="1600200"/>
            <a:ext cx="411480" cy="41148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1554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D4F"/>
                </a:solidFill>
                <a:latin typeface="Segoe UI"/>
              </a:defRPr>
            </a:pPr>
            <a:r>
              <a:t>correctness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18745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Technical and logical</a:t>
            </a:r>
            <a:br/>
            <a:r>
              <a:t>accuracy verified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697480"/>
            <a:ext cx="34747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2697480"/>
            <a:ext cx="54864" cy="1097280"/>
          </a:xfrm>
          <a:prstGeom prst="rect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0080" y="2834640"/>
            <a:ext cx="411480" cy="411480"/>
          </a:xfrm>
          <a:prstGeom prst="ellipse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2788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D4F"/>
                </a:solidFill>
                <a:latin typeface="Segoe UI"/>
              </a:defRPr>
            </a:pPr>
            <a:r>
              <a:t>relevance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3108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Focused output, no off-topic</a:t>
            </a:r>
            <a:br/>
            <a:r>
              <a:t>padding or drift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60520" y="2697480"/>
            <a:ext cx="34747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60520" y="2697480"/>
            <a:ext cx="54864" cy="10972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343400" y="2834640"/>
            <a:ext cx="411480" cy="41148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2788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D4F"/>
                </a:solidFill>
                <a:latin typeface="Segoe UI"/>
              </a:defRPr>
            </a:pPr>
            <a:r>
              <a:t>format_appropriateness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3108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Right format for the use case</a:t>
            </a:r>
            <a:br/>
            <a:r>
              <a:t>(SQL, report, code, etc.)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3840" y="2697480"/>
            <a:ext cx="34747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863840" y="2697480"/>
            <a:ext cx="54864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046720" y="2834640"/>
            <a:ext cx="411480" cy="41148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2788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D4F"/>
                </a:solidFill>
                <a:latin typeface="Segoe UI"/>
              </a:defRPr>
            </a:pPr>
            <a:r>
              <a:t>criteria_adherence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3108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Compliance with explicit</a:t>
            </a:r>
            <a:br/>
            <a:r>
              <a:t>rules and policies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931920"/>
            <a:ext cx="34747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57200" y="3931920"/>
            <a:ext cx="54864" cy="10972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40080" y="4069080"/>
            <a:ext cx="411480" cy="4114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4023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D4F"/>
                </a:solidFill>
                <a:latin typeface="Segoe UI"/>
              </a:defRPr>
            </a:pPr>
            <a:r>
              <a:t>reference_alignment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43434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Match to reference or</a:t>
            </a:r>
            <a:br/>
            <a:r>
              <a:t>expected output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60520" y="3931920"/>
            <a:ext cx="34747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A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160520" y="3931920"/>
            <a:ext cx="54864" cy="109728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4343400" y="4069080"/>
            <a:ext cx="411480" cy="411480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2040" y="4023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D4F"/>
                </a:solidFill>
                <a:latin typeface="Segoe UI"/>
              </a:defRPr>
            </a:pPr>
            <a:r>
              <a:t>performance_efficiency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92040" y="43434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Query/code optimization</a:t>
            </a:r>
            <a:br/>
            <a:r>
              <a:t>and efficiency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863840" y="3931920"/>
            <a:ext cx="34747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7863840" y="3931920"/>
            <a:ext cx="54864" cy="10972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8046720" y="4069080"/>
            <a:ext cx="411480" cy="41148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0" y="4023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D4F"/>
                </a:solidFill>
                <a:latin typeface="Segoe UI"/>
              </a:defRPr>
            </a:pPr>
            <a:r>
              <a:t>data_coverage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95360" y="43434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Data domain and edge</a:t>
            </a:r>
            <a:br/>
            <a:r>
              <a:t>case handling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5166360"/>
            <a:ext cx="34747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57200" y="5166360"/>
            <a:ext cx="54864" cy="1097280"/>
          </a:xfrm>
          <a:prstGeom prst="rect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640080" y="5303520"/>
            <a:ext cx="411480" cy="411480"/>
          </a:xfrm>
          <a:prstGeom prst="ellipse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88720" y="52578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D4F"/>
                </a:solidFill>
                <a:latin typeface="Segoe UI"/>
              </a:defRPr>
            </a:pPr>
            <a:r>
              <a:t>clarity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88720" y="5577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Readable, well-structured,</a:t>
            </a:r>
            <a:br/>
            <a:r>
              <a:t>unambiguous output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160520" y="5166360"/>
            <a:ext cx="34747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4160520" y="5166360"/>
            <a:ext cx="54864" cy="10972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4343400" y="5303520"/>
            <a:ext cx="411480" cy="41148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92040" y="52578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D4F"/>
                </a:solidFill>
                <a:latin typeface="Segoe UI"/>
              </a:defRPr>
            </a:pPr>
            <a:r>
              <a:t>conciseness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92040" y="5577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Brief without sacrificing</a:t>
            </a:r>
            <a:br/>
            <a:r>
              <a:t>completeness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863840" y="5166360"/>
            <a:ext cx="34747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7863840" y="5166360"/>
            <a:ext cx="54864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8046720" y="5303520"/>
            <a:ext cx="411480" cy="41148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95360" y="52578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D4F"/>
                </a:solidFill>
                <a:latin typeface="Segoe UI"/>
              </a:defRPr>
            </a:pPr>
            <a:r>
              <a:t>actionability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95360" y="5577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Specific, implementable</a:t>
            </a:r>
            <a:br/>
            <a:r>
              <a:t>recommendations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5669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Scoring Scale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60167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34440" y="601675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Excellent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926080" y="60167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429000" y="601675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Good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120640" y="60167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315200" y="60167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509760" y="60167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2D4F"/>
                </a:solidFill>
                <a:latin typeface="Segoe UI"/>
              </a:defRPr>
            </a:pPr>
            <a:r>
              <a:t>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Segoe UI"/>
              </a:defRPr>
            </a:pPr>
            <a:r>
              <a:t>FastAPI platform with pluggable LLM providers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43000"/>
            <a:ext cx="182880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2D4F"/>
                </a:solidFill>
                <a:latin typeface="Segoe UI"/>
              </a:defRPr>
            </a:pPr>
            <a:r>
              <a:t>Input Layer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27432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4864" cy="914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9019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86C1"/>
                </a:solidFill>
                <a:latin typeface="Segoe UI"/>
              </a:defRPr>
            </a:pPr>
            <a:r>
              <a:t>Web UI (/ui)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7627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Single-page app with</a:t>
            </a:r>
            <a:br/>
            <a:r>
              <a:t>drag-drop upload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26080"/>
            <a:ext cx="27432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A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926080"/>
            <a:ext cx="54864" cy="91440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99923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A589"/>
                </a:solidFill>
                <a:latin typeface="Segoe UI"/>
              </a:defRPr>
            </a:pPr>
            <a:r>
              <a:t>REST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7355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POST /validate (sync)</a:t>
            </a:r>
            <a:br/>
            <a:r>
              <a:t>POST /validate/async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023360"/>
            <a:ext cx="27432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4023360"/>
            <a:ext cx="54864" cy="914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0965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7E22"/>
                </a:solidFill>
                <a:latin typeface="Segoe UI"/>
              </a:defRPr>
            </a:pPr>
            <a:r>
              <a:t>Document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37083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POST /validate/document</a:t>
            </a:r>
            <a:br/>
            <a:r>
              <a:t>No trace needed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1371600"/>
            <a:ext cx="4846320" cy="4572000"/>
          </a:xfrm>
          <a:prstGeom prst="roundRect">
            <a:avLst/>
          </a:prstGeom>
          <a:solidFill>
            <a:srgbClr val="0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AI Guardian Core (FastAPI)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0" y="2011680"/>
            <a:ext cx="1371600" cy="11887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40480" y="20574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validator.py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23317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5F5E3"/>
                </a:solidFill>
                <a:latin typeface="Segoe UI"/>
              </a:defRPr>
            </a:pPr>
            <a:r>
              <a:t>Trace parsing,</a:t>
            </a:r>
            <a:br/>
            <a:r>
              <a:t>format detection,</a:t>
            </a:r>
            <a:br/>
            <a:r>
              <a:t>judge loop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94960" y="2011680"/>
            <a:ext cx="1371600" cy="1188720"/>
          </a:xfrm>
          <a:prstGeom prst="round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94960" y="20574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prompts.py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23317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5F5E3"/>
                </a:solidFill>
                <a:latin typeface="Segoe UI"/>
              </a:defRPr>
            </a:pPr>
            <a:r>
              <a:t>Dynamic prompt</a:t>
            </a:r>
            <a:br/>
            <a:r>
              <a:t>construction,</a:t>
            </a:r>
            <a:br/>
            <a:r>
              <a:t>17 dimension defs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49440" y="2011680"/>
            <a:ext cx="1371600" cy="11887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49440" y="20574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llm_providers.py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23317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5F5E3"/>
                </a:solidFill>
                <a:latin typeface="Segoe UI"/>
              </a:defRPr>
            </a:pPr>
            <a:r>
              <a:t>Provider abstraction</a:t>
            </a:r>
            <a:br/>
            <a:r>
              <a:t>(Cortex + EHAP),</a:t>
            </a:r>
            <a:br/>
            <a:r>
              <a:t>runtime switching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0" y="3383280"/>
            <a:ext cx="1371600" cy="1188720"/>
          </a:xfrm>
          <a:prstGeom prst="roundRect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840480" y="3429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snowflake_client.py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37033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5F5E3"/>
                </a:solidFill>
                <a:latin typeface="Segoe UI"/>
              </a:defRPr>
            </a:pPr>
            <a:r>
              <a:t>Snowpark session,</a:t>
            </a:r>
            <a:br/>
            <a:r>
              <a:t>AI_COMPLETE calls,</a:t>
            </a:r>
            <a:br/>
            <a:r>
              <a:t>SSO auth + keyring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94960" y="3383280"/>
            <a:ext cx="1371600" cy="118872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94960" y="3429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schemas.py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0" y="37033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5F5E3"/>
                </a:solidFill>
                <a:latin typeface="Segoe UI"/>
              </a:defRPr>
            </a:pPr>
            <a:r>
              <a:t>Pydantic models</a:t>
            </a:r>
            <a:br/>
            <a:r>
              <a:t>for validation</a:t>
            </a:r>
            <a:br/>
            <a:r>
              <a:t>request/response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49440" y="3383280"/>
            <a:ext cx="1371600" cy="11887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949440" y="3429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main.py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37033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5F5E3"/>
                </a:solidFill>
                <a:latin typeface="Segoe UI"/>
              </a:defRPr>
            </a:pPr>
            <a:r>
              <a:t>FastAPI routes,</a:t>
            </a:r>
            <a:br/>
            <a:r>
              <a:t>auth, job mgmt,</a:t>
            </a:r>
            <a:br/>
            <a:r>
              <a:t>file extraction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3246120" y="2286000"/>
            <a:ext cx="365760" cy="18288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ight Arrow 40"/>
          <p:cNvSpPr/>
          <p:nvPr/>
        </p:nvSpPr>
        <p:spPr>
          <a:xfrm>
            <a:off x="3246120" y="3200400"/>
            <a:ext cx="365760" cy="18288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ight Arrow 41"/>
          <p:cNvSpPr/>
          <p:nvPr/>
        </p:nvSpPr>
        <p:spPr>
          <a:xfrm>
            <a:off x="3246120" y="4114800"/>
            <a:ext cx="365760" cy="18288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961120" y="1371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2D4F"/>
                </a:solidFill>
                <a:latin typeface="Segoe UI"/>
              </a:defRPr>
            </a:pPr>
            <a:r>
              <a:t>LLM Providers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61120" y="1828800"/>
            <a:ext cx="29260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144000" y="18745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86C1"/>
                </a:solidFill>
                <a:latin typeface="Segoe UI"/>
              </a:defRPr>
            </a:pPr>
            <a:r>
              <a:t>Snowflake Cortex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212140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llama3.1-70b via</a:t>
            </a:r>
            <a:br/>
            <a:r>
              <a:t>AI_COMPLETE (Snowpark)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61120" y="2743200"/>
            <a:ext cx="29260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A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144000" y="27889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A589"/>
                </a:solidFill>
                <a:latin typeface="Segoe UI"/>
              </a:defRPr>
            </a:pPr>
            <a:r>
              <a:t>Horizon EHAP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303580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REST API + OAuth2</a:t>
            </a:r>
            <a:br/>
            <a:r>
              <a:t>Configurable endpoint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61120" y="3657600"/>
            <a:ext cx="29260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44000" y="37033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F8C8D"/>
                </a:solidFill>
                <a:latin typeface="Segoe UI"/>
              </a:defRPr>
            </a:pPr>
            <a:r>
              <a:t>Future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395020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Azure OpenAI,</a:t>
            </a:r>
            <a:br/>
            <a:r>
              <a:t>AWS Bedrock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61120" y="4572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2D4F"/>
                </a:solidFill>
                <a:latin typeface="Segoe UI"/>
              </a:defRPr>
            </a:pPr>
            <a:r>
              <a:t>Output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961120" y="4937760"/>
            <a:ext cx="292608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144000" y="49834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Segoe UI"/>
              </a:defRPr>
            </a:pPr>
            <a:r>
              <a:t>JSON Reports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0" y="5212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Saved to reports/ dir</a:t>
            </a:r>
            <a:br/>
            <a:r>
              <a:t>with score distribution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961120" y="5760720"/>
            <a:ext cx="292608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144000" y="58064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C8E"/>
                </a:solidFill>
                <a:latin typeface="Segoe UI"/>
              </a:defRPr>
            </a:pPr>
            <a:r>
              <a:t>Web Dashboard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0" y="6035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Sortable, filterable</a:t>
            </a:r>
            <a:br/>
            <a:r>
              <a:t>results table + charts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Snowflake is used ONLY for LLM inference (AI_COMPLETE)  |  Storage is file-based (JSON reports)  |  Auth: SSO + keyring caching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2D4F"/>
                </a:solidFill>
                <a:latin typeface="Segoe UI"/>
              </a:defRPr>
            </a:pPr>
            <a:r>
              <a:t>Next Steps: Scaling AI Guardian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Segoe UI"/>
              </a:defRPr>
            </a:pPr>
            <a:r>
              <a:t>Making the framework more robust, generic, and enterprise-wide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43000"/>
            <a:ext cx="182880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199" y="1463040"/>
            <a:ext cx="9705703" cy="4937760"/>
          </a:xfrm>
          <a:prstGeom prst="round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8974184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Near-Term: Make It Production-Grade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103120"/>
            <a:ext cx="365760" cy="36576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075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2D4F"/>
                </a:solidFill>
                <a:latin typeface="Segoe UI"/>
              </a:defRPr>
            </a:pPr>
            <a:r>
              <a:t>Persistent 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30428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Move from file-based reports/ directory to Snowflake tables</a:t>
            </a:r>
            <a:br/>
            <a:r>
              <a:t>for scalable, queryable report storage and audit trail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926080"/>
            <a:ext cx="365760" cy="36576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8986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2D4F"/>
                </a:solidFill>
                <a:latin typeface="Segoe UI"/>
              </a:defRPr>
            </a:pPr>
            <a:r>
              <a:t>Real Authentication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12724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Replace hardcoded admin/admin with SSO integration,</a:t>
            </a:r>
            <a:br/>
            <a:r>
              <a:t>role-based access control, proper multi-tenant isolation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749040"/>
            <a:ext cx="365760" cy="36576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721608"/>
            <a:ext cx="1828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B2D4F"/>
                </a:solidFill>
                <a:latin typeface="Segoe UI"/>
              </a:defRPr>
            </a:pPr>
            <a:r>
              <a:rPr lang="en-US" dirty="0"/>
              <a:t>RAGAS incorporation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950208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C3E50"/>
                </a:solidFill>
                <a:latin typeface="Segoe UI"/>
              </a:defRPr>
            </a:pPr>
            <a:r>
              <a:rPr lang="en-US" dirty="0"/>
              <a:t>Incorporate RAGAS framework to include capabilities like context recall and context precision</a:t>
            </a:r>
            <a:endParaRPr dirty="0"/>
          </a:p>
        </p:txBody>
      </p:sp>
      <p:sp>
        <p:nvSpPr>
          <p:cNvPr id="19" name="Oval 18"/>
          <p:cNvSpPr/>
          <p:nvPr/>
        </p:nvSpPr>
        <p:spPr>
          <a:xfrm>
            <a:off x="640080" y="4572000"/>
            <a:ext cx="365760" cy="36576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54456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2D4F"/>
                </a:solidFill>
                <a:latin typeface="Segoe UI"/>
              </a:defRPr>
            </a:pPr>
            <a:r>
              <a:t>Trace File SDK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77316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Python/JS libraries that auto-generate .jsonl traces from</a:t>
            </a:r>
            <a:br/>
            <a:r>
              <a:t>common frameworks (LangChain, LlamaIndex, custom)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5394960"/>
            <a:ext cx="365760" cy="36576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36752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2D4F"/>
                </a:solidFill>
                <a:latin typeface="Segoe UI"/>
              </a:defRPr>
            </a:pPr>
            <a:r>
              <a:t>Cost 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596128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Per-app-code Snowflake compute cost tracking per validation run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3047695" cy="6858000"/>
          </a:xfrm>
          <a:prstGeom prst="rect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Get Started with AI Guardian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377440"/>
            <a:ext cx="2743200" cy="54864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27432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ED6F1"/>
                </a:solidFill>
                <a:latin typeface="Segoe UI"/>
              </a:defRPr>
            </a:pPr>
            <a:r>
              <a:t>Start validating your AI outputs in 1-2 days.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474720"/>
            <a:ext cx="5943600" cy="502920"/>
          </a:xfrm>
          <a:prstGeom prst="roundRect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45920" y="3566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7A589"/>
                </a:solidFill>
                <a:latin typeface="Segoe UI"/>
              </a:defRPr>
            </a:pPr>
            <a:r>
              <a:t>1. Generate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566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Add logging to your AI app to produce .jsonl trace 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114800"/>
            <a:ext cx="5943600" cy="502920"/>
          </a:xfrm>
          <a:prstGeom prst="roundRect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45920" y="4206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7A589"/>
                </a:solidFill>
                <a:latin typeface="Segoe UI"/>
              </a:defRPr>
            </a:pPr>
            <a:r>
              <a:t>2. Upload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206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Submit via Web UI at /ui or POST to /validate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4754880"/>
            <a:ext cx="5943600" cy="574766"/>
          </a:xfrm>
          <a:prstGeom prst="roundRect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45920" y="4846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7A589"/>
                </a:solidFill>
                <a:latin typeface="Segoe UI"/>
              </a:defRPr>
            </a:pPr>
            <a:r>
              <a:t>3.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846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rPr dirty="0"/>
              <a:t>Get scored report with per-item verdicts and recommendations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71600" y="6446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AI Guardian  |  Elevance Health  |  Powered by Deloitte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1525</Words>
  <Application>Microsoft Office PowerPoint</Application>
  <PresentationFormat>Widescreen</PresentationFormat>
  <Paragraphs>213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Sarath Kumar Reddy, Valipireddy</cp:lastModifiedBy>
  <cp:revision>5</cp:revision>
  <dcterms:created xsi:type="dcterms:W3CDTF">2013-01-27T09:14:16Z</dcterms:created>
  <dcterms:modified xsi:type="dcterms:W3CDTF">2026-09-11T10:26:25Z</dcterms:modified>
  <cp:category/>
</cp:coreProperties>
</file>